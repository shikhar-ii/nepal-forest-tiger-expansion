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Tiger count</c:v>
                </c:pt>
              </c:strCache>
            </c:strRef>
          </c:tx>
          <c:spPr>
            <a:solidFill>
              <a:srgbClr val="2C5F2D"/>
            </a:solidFill>
            <a:ln w="38100" cap="flat">
              <a:solidFill>
                <a:srgbClr val="2C5F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5F2D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C5F2D"/>
              </a:solidFill>
              <a:ln w="9525" cap="flat">
                <a:solidFill>
                  <a:srgbClr val="2C5F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2009</c:v>
                  </c:pt>
                  <c:pt idx="1">
                    <c:v>2013</c:v>
                  </c:pt>
                  <c:pt idx="2">
                    <c:v>2018</c:v>
                  </c:pt>
                  <c:pt idx="3">
                    <c:v>2022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121</c:v>
                </c:pt>
                <c:pt idx="1">
                  <c:v>198</c:v>
                </c:pt>
                <c:pt idx="2">
                  <c:v>235</c:v>
                </c:pt>
                <c:pt idx="3">
                  <c:v>355</c:v>
                </c:pt>
                <c:pt idx="4">
                  <c:v>429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C5F2D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A2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80"/>
          <c:min val="0"/>
        </c:scaling>
        <c:delete val="0"/>
        <c:axPos val="l"/>
        <c:majorGridlines>
          <c:spPr>
            <a:ln w="12700" cap="flat">
              <a:solidFill>
                <a:srgbClr val="E5E5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A2A2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Forest cover %</c:v>
                </c:pt>
              </c:strCache>
            </c:strRef>
          </c:tx>
          <c:spPr>
            <a:solidFill>
              <a:srgbClr val="6E9A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A2A2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1994
NFI</c:v>
                  </c:pt>
                  <c:pt idx="1">
                    <c:v>2010
Uddin et al.</c:v>
                  </c:pt>
                  <c:pt idx="2">
                    <c:v>2012
DFRS FRA</c:v>
                  </c:pt>
                  <c:pt idx="3">
                    <c:v>2020
GFW/UMD</c:v>
                  </c:pt>
                  <c:pt idx="4">
                    <c:v>2021
NFI 2021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39.6</c:v>
                </c:pt>
                <c:pt idx="1">
                  <c:v>39.1</c:v>
                </c:pt>
                <c:pt idx="2">
                  <c:v>44.74</c:v>
                </c:pt>
                <c:pt idx="3">
                  <c:v>44</c:v>
                </c:pt>
                <c:pt idx="4">
                  <c:v>40.36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A2A2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A2A2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l"/>
        <c:majorGridlines>
          <c:spPr>
            <a:ln w="12700" cap="flat">
              <a:solidFill>
                <a:srgbClr val="E5E5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6B66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6B66"/>
                    </a:solidFill>
                    <a:latin typeface="Arial"/>
                  </a:rPr>
                  <a:t>% of land area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A2A2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Tiger count</c:v>
                </c:pt>
              </c:strCache>
            </c:strRef>
          </c:tx>
          <c:spPr>
            <a:solidFill>
              <a:srgbClr val="2C5F2D"/>
            </a:solidFill>
            <a:ln w="38100" cap="flat">
              <a:solidFill>
                <a:srgbClr val="2C5F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5F2D"/>
              </a:solidFill>
              <a:ln w="9525" cap="flat">
                <a:solidFill>
                  <a:srgbClr val="2C5F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2000</c:v>
                  </c:pt>
                  <c:pt idx="1">
                    <c:v>2005</c:v>
                  </c:pt>
                  <c:pt idx="2">
                    <c:v>2009</c:v>
                  </c:pt>
                  <c:pt idx="3">
                    <c:v>2010</c:v>
                  </c:pt>
                  <c:pt idx="4">
                    <c:v>2012</c:v>
                  </c:pt>
                  <c:pt idx="5">
                    <c:v>2013</c:v>
                  </c:pt>
                  <c:pt idx="6">
                    <c:v>2018</c:v>
                  </c:pt>
                  <c:pt idx="7">
                    <c:v>2020</c:v>
                  </c:pt>
                  <c:pt idx="8">
                    <c:v>2021</c:v>
                  </c:pt>
                  <c:pt idx="9">
                    <c:v>2022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109</c:v>
                </c:pt>
                <c:pt idx="1">
                  <c:v>126</c:v>
                </c:pt>
                <c:pt idx="2">
                  <c:v>121</c:v>
                </c:pt>
                <c:pt idx="3">
                  <c:v>140</c:v>
                </c:pt>
                <c:pt idx="4">
                  <c:v>179</c:v>
                </c:pt>
                <c:pt idx="5">
                  <c:v>198</c:v>
                </c:pt>
                <c:pt idx="6">
                  <c:v>235</c:v>
                </c:pt>
                <c:pt idx="7">
                  <c:v>295</c:v>
                </c:pt>
                <c:pt idx="8">
                  <c:v>325</c:v>
                </c:pt>
                <c:pt idx="9">
                  <c:v>355</c:v>
                </c:pt>
                <c:pt idx="10">
                  <c:v>429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Forest cover %</c:v>
                </c:pt>
              </c:strCache>
            </c:strRef>
          </c:tx>
          <c:spPr>
            <a:solidFill>
              <a:srgbClr val="D9773A"/>
            </a:solidFill>
            <a:ln w="38100" cap="flat">
              <a:solidFill>
                <a:srgbClr val="D977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3A"/>
              </a:solidFill>
              <a:ln w="9525" cap="flat">
                <a:solidFill>
                  <a:srgbClr val="D977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2000</c:v>
                  </c:pt>
                  <c:pt idx="1">
                    <c:v>2005</c:v>
                  </c:pt>
                  <c:pt idx="2">
                    <c:v>2009</c:v>
                  </c:pt>
                  <c:pt idx="3">
                    <c:v>2010</c:v>
                  </c:pt>
                  <c:pt idx="4">
                    <c:v>2012</c:v>
                  </c:pt>
                  <c:pt idx="5">
                    <c:v>2013</c:v>
                  </c:pt>
                  <c:pt idx="6">
                    <c:v>2018</c:v>
                  </c:pt>
                  <c:pt idx="7">
                    <c:v>2020</c:v>
                  </c:pt>
                  <c:pt idx="8">
                    <c:v>2021</c:v>
                  </c:pt>
                  <c:pt idx="9">
                    <c:v>2022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39.4</c:v>
                </c:pt>
                <c:pt idx="1">
                  <c:v>39.3</c:v>
                </c:pt>
                <c:pt idx="2">
                  <c:v>39.1</c:v>
                </c:pt>
                <c:pt idx="3">
                  <c:v>39.1</c:v>
                </c:pt>
                <c:pt idx="4">
                  <c:v>44.7</c:v>
                </c:pt>
                <c:pt idx="5">
                  <c:v>44.6</c:v>
                </c:pt>
                <c:pt idx="6">
                  <c:v>44.2</c:v>
                </c:pt>
                <c:pt idx="7">
                  <c:v>44</c:v>
                </c:pt>
                <c:pt idx="8">
                  <c:v>40.4</c:v>
                </c:pt>
                <c:pt idx="9">
                  <c:v>40.4</c:v>
                </c:pt>
                <c:pt idx="10">
                  <c:v>40.4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A2A2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60"/>
          <c:min val="0"/>
        </c:scaling>
        <c:delete val="0"/>
        <c:axPos val="l"/>
        <c:majorGridlines>
          <c:spPr>
            <a:ln w="12700" cap="flat">
              <a:solidFill>
                <a:srgbClr val="E5E5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2C5F2D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2C5F2D"/>
                    </a:solidFill>
                    <a:latin typeface="Arial"/>
                  </a:rPr>
                  <a:t>Tiger count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C5F2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55"/>
          <c:min val="30"/>
        </c:scaling>
        <c:delete val="0"/>
        <c:axPos val="r"/>
        <c:majorGridlines>
          <c:spPr>
            <a:ln w="12700" cap="flat">
              <a:solidFill>
                <a:srgbClr val="E5E5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D9773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D9773A"/>
                    </a:solidFill>
                    <a:latin typeface="Arial"/>
                  </a:rPr>
                  <a:t>Forest cover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D9773A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A2A28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A2A2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3A7A3C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25522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7452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Tiger Population Recovery &amp; Forest Cover Dynamics in Nepal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FE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25-Year Data Analysis (2000–2025)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Shikhar Pandey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Virginia State University  |  ESIIL Summer Intern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Mentored by Nate Quarderer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ESIIL Education Director  |  CIRES, University of Colorado Boulder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778240" y="598932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0" y="5989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ESIIL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8E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 Boulder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561320" y="598932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1B3A6B"/>
          </a:solidFill>
          <a:ln/>
        </p:spPr>
      </p:sp>
      <p:sp>
        <p:nvSpPr>
          <p:cNvPr id="11" name="Text 9"/>
          <p:cNvSpPr/>
          <p:nvPr/>
        </p:nvSpPr>
        <p:spPr>
          <a:xfrm>
            <a:off x="10561320" y="59893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NSF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778240" y="5623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FE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ESIIL &amp; NSF-Supported Research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Look at Tigers and Forests Together?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F5F5F0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Habitat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2880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4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Nepal's tigers live almost entirely in the Terai Arc Landscape — Chitwan, Bardiya, Parsa, Banke &amp; Shuklaphanta National Parks and connecting forest corridors.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F5F5F0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87452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2697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Trend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3200400"/>
            <a:ext cx="2880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4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2009, Nepal's tiger population has grown steadily while national forest cover has stayed broadly stable — unusual among tiger-range countries.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55448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F5F5F0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66760" y="1874520"/>
            <a:ext cx="640080" cy="640080"/>
          </a:xfrm>
          <a:prstGeom prst="ellipse">
            <a:avLst/>
          </a:prstGeom>
          <a:solidFill>
            <a:srgbClr val="D9773A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21040" y="2697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21040" y="3200400"/>
            <a:ext cx="2880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4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national forest-cover trends line up with tiger recovery over time — and what does the data actually show, versus what's often assumed?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 Tigers &amp; Forest Cover  |  ESIIL Summer Research Program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Nepal's Wild Tiger Population, 2009–2026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camera-trap census counts (Dept. of National Parks &amp; Wildlife Conservation)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70408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17320"/>
            <a:ext cx="3794760" cy="1417320"/>
          </a:xfrm>
          <a:prstGeom prst="roundRect">
            <a:avLst>
              <a:gd name="adj" fmla="val 6452"/>
            </a:avLst>
          </a:prstGeom>
          <a:solidFill>
            <a:srgbClr val="2C5F2D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155448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3.5x</a:t>
            </a:r>
            <a:endParaRPr lang="en-US" sz="4000" dirty="0"/>
          </a:p>
          <a:p>
            <a:pPr indent="0" marL="0">
              <a:buNone/>
            </a:pPr>
            <a:r>
              <a:rPr lang="en-US" sz="1200" dirty="0">
                <a:solidFill>
                  <a:srgbClr val="D8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from 2009 to 2026 (121 → 429)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7818120" y="3017520"/>
            <a:ext cx="3794760" cy="1417320"/>
          </a:xfrm>
          <a:prstGeom prst="roundRect">
            <a:avLst>
              <a:gd name="adj" fmla="val 6452"/>
            </a:avLst>
          </a:prstGeom>
          <a:solidFill>
            <a:srgbClr val="D9773A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0" y="315468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→ 355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rgbClr val="FC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Tx2 global goal (double tigers by 2022) surpassed in the 2022 census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7818120" y="4617720"/>
            <a:ext cx="3794760" cy="1645920"/>
          </a:xfrm>
          <a:prstGeom prst="roundRect">
            <a:avLst>
              <a:gd name="adj" fmla="val 5556"/>
            </a:avLst>
          </a:prstGeom>
          <a:solidFill>
            <a:srgbClr val="F5F5F0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0" y="4754880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park gains: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Chitwan 128→145 · Parsa 41→71 · Banke 25→51 · Shuklaphanta 36→50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44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Bardiya declined (125→112)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 Tigers &amp; Forest Cover  |  ESIIL Summer Research Program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Forest Cover Has Stayed Broadly Stable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forest cover estimates across independent assessments, 1994–2021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749808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463040"/>
            <a:ext cx="3337560" cy="4709160"/>
          </a:xfrm>
          <a:prstGeom prst="roundRect">
            <a:avLst>
              <a:gd name="adj" fmla="val 2740"/>
            </a:avLst>
          </a:prstGeom>
          <a:solidFill>
            <a:srgbClr val="F5F5F0"/>
          </a:solidFill>
          <a:ln/>
        </p:spPr>
      </p:sp>
      <p:sp>
        <p:nvSpPr>
          <p:cNvPr id="6" name="Text 3"/>
          <p:cNvSpPr/>
          <p:nvPr/>
        </p:nvSpPr>
        <p:spPr>
          <a:xfrm>
            <a:off x="8503920" y="1691640"/>
            <a:ext cx="2880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data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bar uses a different survey method (aerial, Landsat, RapidEye) — treat these as independent snapshots, not one continuous series.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cluster in a narrow 39–45% band across 27 years — no steep decline, unlike many tropical forest nations.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~4,900 ha lost in 2025 (GFW) vs. ~6.5M ha standing natural forest in 2020 — a small annual fraction.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 Tigers &amp; Forest Cover  |  ESIIL Summer Research Program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Tiger Recovery vs. Forest Cover Over Time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Interpolated shared timeline for visualization — measured points marked below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1106424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 Tigers &amp; Forest Cover  |  ESIIL Summer Research Program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255228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00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7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3.5x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68680" y="24231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4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 population growth, 2009 → 2026 (121 → 429)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09360" y="141732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255228"/>
          </a:solidFill>
          <a:ln/>
        </p:spPr>
      </p:sp>
      <p:sp>
        <p:nvSpPr>
          <p:cNvPr id="7" name="Text 5"/>
          <p:cNvSpPr/>
          <p:nvPr/>
        </p:nvSpPr>
        <p:spPr>
          <a:xfrm>
            <a:off x="6629400" y="1600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7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39–45%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629400" y="24231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4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of national forest-cover estimates, 1994–2021 — stable, not declining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255228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8404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7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4/5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68680" y="46634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4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parks that gained tigers between 2022 and 2026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09360" y="365760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255228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38404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7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2.9M ha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629400" y="46634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4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Community-managed forest under 22,000+ Community Forest User Groups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E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analysis only — tiger recovery is attributed primarily to anti-poaching enforcement and protected-area management, not forest cover alone.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 Tigers &amp; Forest Cover  |  ESIIL Summer Research Program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&amp; Acknowledgments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6583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National Parks &amp; Wildlife Conservation, Nepal — National Tiger Census (2009–2026)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Forest Watch / Hansen Global Forest Change (UMD)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Forest Research &amp; Survey — Forest Resource Assessment 2010–2014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Uddin et al. 2015; National Forest Inventory 2021, Govt. of Nepal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498080" y="1280160"/>
            <a:ext cx="4114800" cy="4480560"/>
          </a:xfrm>
          <a:prstGeom prst="roundRect">
            <a:avLst>
              <a:gd name="adj" fmla="val 2222"/>
            </a:avLst>
          </a:prstGeom>
          <a:solidFill>
            <a:srgbClr val="F5F5F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Acknowledgment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0" y="196596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1965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ESIIL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8E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 Boulder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012680" y="196596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1B3A6B"/>
          </a:solidFill>
          <a:ln/>
        </p:spPr>
      </p:sp>
      <p:sp>
        <p:nvSpPr>
          <p:cNvPr id="9" name="Text 7"/>
          <p:cNvSpPr/>
          <p:nvPr/>
        </p:nvSpPr>
        <p:spPr>
          <a:xfrm>
            <a:off x="10012680" y="19659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NSF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0" y="260604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as part of the ESIIL Summer Research Program (Environmental Data Science Innovation &amp; Inclusion Lab), University of Colorado Boulder — supported by the U.S. National Science Foundation.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0" y="402336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Shikhar Pandey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Nate Quarderer — ESIIL Education Director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cires.colorado.edu/people/nathan-quarderer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institutional logos shown are simplified text marks — replace with official ESIIL / CU Boulder and NSF brand assets before external distribution.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 Tigers &amp; Forest Cover  |  ESIIL Summer Research Program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2026-07-31T18:50:54Z</dcterms:created>
  <dcterms:modified xsi:type="dcterms:W3CDTF">2026-07-31T18:50:54Z</dcterms:modified>
</cp:coreProperties>
</file>